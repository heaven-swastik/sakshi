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4754880" cy="3840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  ★  SMART INDIA HACKATHON 2026 · IDEA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858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SAKSHI (साक्षी)</a:t>
            </a:r>
          </a:p>
          <a:p>
            <a:pPr>
              <a:spcBef>
                <a:spcPts val="400"/>
              </a:spcBef>
              <a:defRPr sz="1800" b="1">
                <a:solidFill>
                  <a:srgbClr val="38BDF8"/>
                </a:solidFill>
              </a:defRPr>
            </a:pPr>
            <a:r>
              <a:t>A Witness That Confirms, Never Discloses.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APAAR ID-Based Privacy-Preserving Student Enrolment Verification &amp; Institutional Seat Integrity Platform for AICTE.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6858000" cy="219456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Problem Statement ID: </a:t>
            </a:r>
            <a:r>
              <a:rPr b="1">
                <a:solidFill>
                  <a:srgbClr val="38BDF8"/>
                </a:solidFill>
              </a:rPr>
              <a:t>SIH26263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Segoe UI"/>
              </a:defRPr>
            </a:pPr>
            <a:r>
              <a:t>Problem Statement Title: </a:t>
            </a:r>
            <a:r>
              <a:rPr b="1">
                <a:solidFill>
                  <a:srgbClr val="F8FAFC"/>
                </a:solidFill>
              </a:rPr>
              <a:t>APAAR ID-Based Student Data Management &amp; Verification Platform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Segoe UI"/>
              </a:defRPr>
            </a:pPr>
            <a:r>
              <a:t>Ministry / Organization: </a:t>
            </a:r>
            <a:r>
              <a:rPr b="1">
                <a:solidFill>
                  <a:srgbClr val="34D399"/>
                </a:solidFill>
              </a:rPr>
              <a:t>All India Council for Technical Education (AICTE)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Segoe UI"/>
              </a:defRPr>
            </a:pPr>
            <a:r>
              <a:t>Theme &amp; Category: </a:t>
            </a:r>
            <a:r>
              <a:rPr b="1">
                <a:solidFill>
                  <a:srgbClr val="F8FAFC"/>
                </a:solidFill>
              </a:rPr>
              <a:t>Smart Automation  |  Software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  <a:latin typeface="Segoe UI"/>
              </a:defRPr>
            </a:pPr>
            <a:r>
              <a:t>Legal &amp; Judicial Compliance: </a:t>
            </a:r>
            <a:r>
              <a:rPr b="1">
                <a:solidFill>
                  <a:srgbClr val="FBBF24"/>
                </a:solidFill>
              </a:rPr>
              <a:t>DPDP Act 2023 &amp; Supreme Court 2026 APAAR Opt-Out Mandate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188720"/>
            <a:ext cx="3566160" cy="5029200"/>
          </a:xfrm>
          <a:prstGeom prst="roundRect">
            <a:avLst/>
          </a:prstGeom>
          <a:solidFill>
            <a:srgbClr val="1A2336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r>
              <a:t>TEAM DETAILS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Team Name: [Your Team Name]</a:t>
            </a:r>
          </a:p>
          <a:p>
            <a:pPr>
              <a:spcBef>
                <a:spcPts val="400"/>
              </a:spcBef>
              <a:defRPr sz="1150">
                <a:solidFill>
                  <a:srgbClr val="38BDF8"/>
                </a:solidFill>
              </a:defRPr>
            </a:pPr>
            <a:r>
              <a:t>Team Leader: [Leader Name]</a:t>
            </a:r>
          </a:p>
          <a:p>
            <a:pPr>
              <a:spcBef>
                <a:spcPts val="1000"/>
              </a:spcBef>
              <a:defRPr sz="1100" b="1">
                <a:solidFill>
                  <a:srgbClr val="94A3B8"/>
                </a:solidFill>
              </a:defRPr>
            </a:pPr>
            <a:r>
              <a:t>Team Members: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Member 2: [Full Name] - Frontend &amp; UX Lead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Member 3: [Full Name] - Backend &amp; API Architect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Member 4: [Full Name] - Cryptography &amp; Security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Member 5: [Full Name] - Data Integrity &amp; Testing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Member 6: [Full Name] - Research &amp; Documentation</a:t>
            </a:r>
          </a:p>
          <a:p>
            <a:pPr>
              <a:spcBef>
                <a:spcPts val="1200"/>
              </a:spcBef>
              <a:defRPr sz="1050" b="1">
                <a:solidFill>
                  <a:srgbClr val="FBBF24"/>
                </a:solidFill>
              </a:defRPr>
            </a:pPr>
            <a:r>
              <a:t>Institute / University:</a:t>
            </a:r>
            <a:br/>
            <a:r>
              <a:t>[Your College / University Name, City]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SMART INDIA HACKATHON 2026 · PS SIH26263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Proposed Solution &amp; Core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THE REGULATORY &amp; PRIVACY CRISIS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• Supreme Court Mandate (July 2026): </a:t>
            </a:r>
            <a:r>
              <a:rPr b="0">
                <a:solidFill>
                  <a:srgbClr val="94A3B8"/>
                </a:solidFill>
              </a:rPr>
              <a:t>Supreme Court affirmed pan-India student right to OPT OUT of Aadhaar-linked APAAR IDs without educational penalty. Prior systems penalise opt-outs as fraudulent.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• Massive Breach Liability (DPDP 2023): </a:t>
            </a:r>
            <a:r>
              <a:rPr b="0">
                <a:solidFill>
                  <a:srgbClr val="94A3B8"/>
                </a:solidFill>
              </a:rPr>
              <a:t>Centralising millions of raw student identities creates a honeypot with statutory penalties up to ₹250 Crore for security safeguards failure.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• Rampant Seat Fraud &amp; Blocking: </a:t>
            </a:r>
            <a:r>
              <a:rPr b="0">
                <a:solidFill>
                  <a:srgbClr val="94A3B8"/>
                </a:solidFill>
              </a:rPr>
              <a:t>Institutions claim phantom enrolments to satisfy the AICTE 30% viability rule; students hold multiple admissions simultaneously, depriving deserving candidates.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303520" cy="5029200"/>
          </a:xfrm>
          <a:prstGeom prst="roundRect">
            <a:avLst/>
          </a:prstGeom>
          <a:solidFill>
            <a:srgbClr val="1A23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SAKSHI INNOVATION: THE THREE CRYPTOGRAPHIC LOCKS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✔ Lock 1: Ephemeral Ingestion &amp; Blind Tokenizer</a:t>
            </a:r>
            <a:br/>
            <a:r>
              <a:rPr b="0">
                <a:solidFill>
                  <a:srgbClr val="94A3B8"/>
                </a:solidFill>
              </a:rPr>
              <a:t>Institutions upload CSVs; APAAR IDs are immediately converted into salted HMAC-SHA256 tokens in volatile RAM. Raw identity is purged permanently within milliseconds. Zero PII ever hits disk.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✔ Lock 2: Triangulated Seat Integrity Scoring (0-100)</a:t>
            </a:r>
            <a:br/>
            <a:r>
              <a:rPr b="0">
                <a:solidFill>
                  <a:srgbClr val="94A3B8"/>
                </a:solidFill>
              </a:rPr>
              <a:t>6 deterministic mathematical rules (R1-R6) evaluate cohort size, approved intake, branch quotas, and cross-institute overlaps. Fully explainable AICTE compliance without viewing student names.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✔ Lock 3: Dual-Control Reveal &amp; Citizen Window</a:t>
            </a:r>
            <a:br/>
            <a:r>
              <a:rPr b="0">
                <a:solidFill>
                  <a:srgbClr val="94A3B8"/>
                </a:solidFill>
              </a:rPr>
              <a:t>Regulators cannot unseal student identities unilaterally. Identity dispute resolution requires dual-custody cryptographic approval between the reporting college and the verified student.</a:t>
            </a:r>
          </a:p>
          <a:p>
            <a:pPr>
              <a:spcBef>
                <a:spcPts val="1200"/>
              </a:spcBef>
              <a:defRPr sz="1100" b="1" i="1">
                <a:solidFill>
                  <a:srgbClr val="FBBF24"/>
                </a:solidFill>
              </a:defRPr>
            </a:pPr>
            <a:r>
              <a:t>Core Covenant: 'A witness that confirms, never discloses.'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SMART INDIA HACKATHON 2026 · PS SIH26263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Technical Approach &amp; Cryptographic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52728"/>
            <a:ext cx="6638544" cy="40782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440680"/>
            <a:ext cx="6583680" cy="96012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Deterministic Verification Flow:  Upload → Tokenize → Seal → Duplicate Radar → Citizen Review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• Ingestion: 2.1s per 1,000 records  |  Lookup: 0.18ms O(1) indexed token collision  |  Storage: 0 raw PII bytes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280160"/>
            <a:ext cx="3931920" cy="5120640"/>
          </a:xfrm>
          <a:prstGeom prst="roundRect">
            <a:avLst/>
          </a:prstGeom>
          <a:solidFill>
            <a:srgbClr val="1A2336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818CF8"/>
                </a:solidFill>
              </a:defRPr>
            </a:pPr>
            <a:r>
              <a:t>ENTERPRISE TECH STACK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</a:defRPr>
            </a:pPr>
            <a:r>
              <a:t>• Backend Architecture: </a:t>
            </a:r>
            <a:r>
              <a:rPr b="0">
                <a:solidFill>
                  <a:srgbClr val="94A3B8"/>
                </a:solidFill>
              </a:rPr>
              <a:t>FastAPI (Python 3.13) high-performance async REST engine with Pydantic validation.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</a:defRPr>
            </a:pPr>
            <a:r>
              <a:t>• Database &amp; Concurrency: </a:t>
            </a:r>
            <a:r>
              <a:rPr b="0">
                <a:solidFill>
                  <a:srgbClr val="94A3B8"/>
                </a:solidFill>
              </a:rPr>
              <a:t>SQLite WAL mode with zero-lock concurrent reads (production-ready for PostgreSQL/CockroachDB).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</a:defRPr>
            </a:pPr>
            <a:r>
              <a:t>• Cryptographic Suite: </a:t>
            </a:r>
            <a:r>
              <a:rPr b="0">
                <a:solidFill>
                  <a:srgbClr val="94A3B8"/>
                </a:solidFill>
              </a:rPr>
              <a:t>HMAC-SHA256 salted tokenization; Ed25519 high-speed digital signatures for W3C credentials.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</a:defRPr>
            </a:pPr>
            <a:r>
              <a:t>• Frontend Experience: </a:t>
            </a:r>
            <a:r>
              <a:rPr b="0">
                <a:solidFill>
                  <a:srgbClr val="94A3B8"/>
                </a:solidFill>
              </a:rPr>
              <a:t>React 19, Tailwind CSS, Lucide icons, Three.js cryptographic visualizer, accessible WCAG 2.1 AA.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</a:defRPr>
            </a:pPr>
            <a:r>
              <a:t>• Tamper-Evident Ledger: </a:t>
            </a:r>
            <a:r>
              <a:rPr b="0">
                <a:solidFill>
                  <a:srgbClr val="94A3B8"/>
                </a:solidFill>
              </a:rPr>
              <a:t>SHA-256 chained audit trail with Merkle-style root verification against state rollback.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</a:defRPr>
            </a:pPr>
            <a:r>
              <a:t>• Zero-PII Enforcement: </a:t>
            </a:r>
            <a:r>
              <a:rPr b="0">
                <a:solidFill>
                  <a:srgbClr val="94A3B8"/>
                </a:solidFill>
              </a:rPr>
              <a:t>19 database tables cryptographically audited; automated CI leak detection suite.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SMART INDIA HACKATHON 2026 · PS SIH26263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Prototype Walkthrough — 4 Production-Ready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246888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709928"/>
            <a:ext cx="2523744" cy="1472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upload-se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2468880" cy="1417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0" y="1691639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1. Institutional Ingestion &amp; Sealing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Instant CSV validation, animated PII dissolution into cryptoseals, and zero-PII confirmation.</a:t>
            </a:r>
          </a:p>
          <a:p>
            <a:pPr>
              <a:spcBef>
                <a:spcPts val="600"/>
              </a:spcBef>
              <a:defRPr sz="900" b="1">
                <a:solidFill>
                  <a:srgbClr val="34D399"/>
                </a:solidFill>
              </a:defRPr>
            </a:pPr>
            <a:r>
              <a:t>Status: 100% LIVE &amp; TESTED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246888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7648" y="1709928"/>
            <a:ext cx="2523744" cy="1472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duplicate-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37360"/>
            <a:ext cx="2468880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15400" y="1691639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2. Duplicate Radar &amp; Overlap Intelligence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Real-time cross-college collision detection with deterministic R1-R6 rule explanations.</a:t>
            </a:r>
          </a:p>
          <a:p>
            <a:pPr>
              <a:spcBef>
                <a:spcPts val="600"/>
              </a:spcBef>
              <a:defRPr sz="900" b="1">
                <a:solidFill>
                  <a:srgbClr val="34D399"/>
                </a:solidFill>
              </a:defRPr>
            </a:pPr>
            <a:r>
              <a:t>Status: 100% LIVE &amp; TESTED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46888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4361688"/>
            <a:ext cx="2523744" cy="1472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4-citizen-disp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89120"/>
            <a:ext cx="2468880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29000" y="434340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3. Citizen Transparency &amp; Dispute Portal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Students verify active enrolment claims and issue cryptographically signed disputes.</a:t>
            </a:r>
          </a:p>
          <a:p>
            <a:pPr>
              <a:spcBef>
                <a:spcPts val="600"/>
              </a:spcBef>
              <a:defRPr sz="900" b="1">
                <a:solidFill>
                  <a:srgbClr val="34D399"/>
                </a:solidFill>
              </a:defRPr>
            </a:pPr>
            <a:r>
              <a:t>Status: 100% LIVE &amp; TESTED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212080" cy="246888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7648" y="4361688"/>
            <a:ext cx="2523744" cy="1472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5-credential-verifi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89120"/>
            <a:ext cx="2468880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400" y="434340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4. W3C Verifiable Credential QR Verification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Ed25519 digitally signed credential verifying instantly offline without contacting AICTE DB.</a:t>
            </a:r>
          </a:p>
          <a:p>
            <a:pPr>
              <a:spcBef>
                <a:spcPts val="600"/>
              </a:spcBef>
              <a:defRPr sz="900" b="1">
                <a:solidFill>
                  <a:srgbClr val="34D399"/>
                </a:solidFill>
              </a:defRPr>
            </a:pPr>
            <a:r>
              <a:t>Status: 100% LIVE &amp; TESTED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SMART INDIA HACKATHON 2026 · PS SIH26263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Feasibility, Viability &amp; Security Safeguards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29000" cy="502920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TECHNICAL FEASIBILITY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Zero Institutional Friction:</a:t>
            </a:r>
            <a:br/>
            <a:r>
              <a:rPr b="0">
                <a:solidFill>
                  <a:srgbClr val="94A3B8"/>
                </a:solidFill>
              </a:rPr>
              <a:t>Accepts existing institutional ERP exports (standard CSV) with no software overhaul needed at colleges.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Sub-Millisecond Engine:</a:t>
            </a:r>
            <a:br/>
            <a:r>
              <a:rPr b="0">
                <a:solidFill>
                  <a:srgbClr val="94A3B8"/>
                </a:solidFill>
              </a:rPr>
              <a:t>B-Tree indexed HMAC lookups complete in 0.18ms; 100% scalable to 10,000+ AICTE institutions and 40M+ students.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Offline-First Verification:</a:t>
            </a:r>
            <a:br/>
            <a:r>
              <a:rPr b="0">
                <a:solidFill>
                  <a:srgbClr val="94A3B8"/>
                </a:solidFill>
              </a:rPr>
              <a:t>W3C Verifiable Credentials verify cryptographically via public key without hitting the central AICTE database.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Standard Cloud Footprint:</a:t>
            </a:r>
            <a:br/>
            <a:r>
              <a:rPr b="0">
                <a:solidFill>
                  <a:srgbClr val="94A3B8"/>
                </a:solidFill>
              </a:rPr>
              <a:t>Stateless API deployable across NIC MeghRaj, AWS, or any Indian sovereign cloud node.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429000" cy="502920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OPERATIONAL VIABILITY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Phased Regulatory Rollout:</a:t>
            </a:r>
            <a:br/>
            <a:r>
              <a:rPr b="0">
                <a:solidFill>
                  <a:srgbClr val="94A3B8"/>
                </a:solidFill>
              </a:rPr>
              <a:t>Seamless 3-stage pilot starting with 1 regional office (WRO Mumbai/SRO Chennai), expanding state-by-state.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Cost-Benefit Dominance:</a:t>
            </a:r>
            <a:br/>
            <a:r>
              <a:rPr b="0">
                <a:solidFill>
                  <a:srgbClr val="94A3B8"/>
                </a:solidFill>
              </a:rPr>
              <a:t>Open-source architecture incurs ₹0 proprietary license fees; saves estimated ₹120+ Cr in manual audit inspections.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Opt-Out Inclusivity:</a:t>
            </a:r>
            <a:br/>
            <a:r>
              <a:rPr b="0">
                <a:solidFill>
                  <a:srgbClr val="94A3B8"/>
                </a:solidFill>
              </a:rPr>
              <a:t>Complies with Supreme Court mandate; students without APAAR verify via institutional roll number without penalty.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Dual-Control Governance:</a:t>
            </a:r>
            <a:br/>
            <a:r>
              <a:rPr b="0">
                <a:solidFill>
                  <a:srgbClr val="94A3B8"/>
                </a:solidFill>
              </a:rPr>
              <a:t>Prevents bureaucratic overreach; no single AICTE officer can deanonymize student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429000" cy="502920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SECURITY &amp; DPDP SAFEGUARDS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Zero Central Honeypot:</a:t>
            </a:r>
            <a:br/>
            <a:r>
              <a:rPr b="0">
                <a:solidFill>
                  <a:srgbClr val="94A3B8"/>
                </a:solidFill>
              </a:rPr>
              <a:t>Zero raw Aadhaar/APAAR IDs stored or logged across all 19 database tables (CI leak test verified).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Immutable SHA-256 Ledger:</a:t>
            </a:r>
            <a:br/>
            <a:r>
              <a:rPr b="0">
                <a:solidFill>
                  <a:srgbClr val="94A3B8"/>
                </a:solidFill>
              </a:rPr>
              <a:t>Tamper-evident hash-chained audit log prevents retrospective record manipulation or ghost seat insertions.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DPDP Penalty Elimination:</a:t>
            </a:r>
            <a:br/>
            <a:r>
              <a:rPr b="0">
                <a:solidFill>
                  <a:srgbClr val="94A3B8"/>
                </a:solidFill>
              </a:rPr>
              <a:t>Eliminates exposure to statutory penalties up to ₹250 Cr under the Digital Personal Data Protection Act 2023.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Continuous Key Rotation:</a:t>
            </a:r>
            <a:br/>
            <a:r>
              <a:rPr b="0">
                <a:solidFill>
                  <a:srgbClr val="94A3B8"/>
                </a:solidFill>
              </a:rPr>
              <a:t>Institutional salts rotate per academic cohort to prevent cross-year correlation attacks.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SMART INDIA HACKATHON 2026 · PS SIH26263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Impact &amp; Benefits to Key Stakeholders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246888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FOR AICTE (REGULATOR)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Real-Time Seat Occupancy:</a:t>
            </a:r>
            <a:r>
              <a:rPr b="0">
                <a:solidFill>
                  <a:srgbClr val="94A3B8"/>
                </a:solidFill>
              </a:rPr>
              <a:t> Instant national visibility across all technical colleges.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Ghost Seat Elimination:</a:t>
            </a:r>
            <a:r>
              <a:rPr b="0">
                <a:solidFill>
                  <a:srgbClr val="94A3B8"/>
                </a:solidFill>
              </a:rPr>
              <a:t> Halts fraudulent admissions designed to breach 30% viability norms.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Seat Blocking Elimination:</a:t>
            </a:r>
            <a:r>
              <a:rPr b="0">
                <a:solidFill>
                  <a:srgbClr val="94A3B8"/>
                </a:solidFill>
              </a:rPr>
              <a:t> Detects students holding multiple seats simultaneously.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Zero Data Breach Exposure:</a:t>
            </a:r>
            <a:r>
              <a:rPr b="0">
                <a:solidFill>
                  <a:srgbClr val="94A3B8"/>
                </a:solidFill>
              </a:rPr>
              <a:t> Protects regulator from catastrophic DPDP Act non-compliance.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246888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FOR TECHNICAL INSTITUTIONS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One-Click CSV Onboarding:</a:t>
            </a:r>
            <a:r>
              <a:rPr b="0">
                <a:solidFill>
                  <a:srgbClr val="94A3B8"/>
                </a:solidFill>
              </a:rPr>
              <a:t> Zero custom software or complex IT integration required.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Instant Seat Integrity Feedback:</a:t>
            </a:r>
            <a:r>
              <a:rPr b="0">
                <a:solidFill>
                  <a:srgbClr val="94A3B8"/>
                </a:solidFill>
              </a:rPr>
              <a:t> Immediate scoring against AICTE sanctioned intake.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Protection Against Impersonation:</a:t>
            </a:r>
            <a:r>
              <a:rPr b="0">
                <a:solidFill>
                  <a:srgbClr val="94A3B8"/>
                </a:solidFill>
              </a:rPr>
              <a:t> Validates genuine student admissions before approvals.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Automated Compliance Proof:</a:t>
            </a:r>
            <a:r>
              <a:rPr b="0">
                <a:solidFill>
                  <a:srgbClr val="94A3B8"/>
                </a:solidFill>
              </a:rPr>
              <a:t> Generates cryptographically verifiable EoA compliance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46888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FOR STUDENTS &amp; CITIZENS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Citizen Transparency Portal:</a:t>
            </a:r>
            <a:r>
              <a:rPr b="0">
                <a:solidFill>
                  <a:srgbClr val="94A3B8"/>
                </a:solidFill>
              </a:rPr>
              <a:t> Full visibility into which institution has claimed their enrolment.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1-Click 'This Is Not Me' Dispute:</a:t>
            </a:r>
            <a:r>
              <a:rPr b="0">
                <a:solidFill>
                  <a:srgbClr val="94A3B8"/>
                </a:solidFill>
              </a:rPr>
              <a:t> Instant redressal if an institute uses their APAAR illegally.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Absolute Privacy Preservation:</a:t>
            </a:r>
            <a:r>
              <a:rPr b="0">
                <a:solidFill>
                  <a:srgbClr val="94A3B8"/>
                </a:solidFill>
              </a:rPr>
              <a:t> Personal identity remains on campus, never on central servers.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W3C Verifiable Credentials:</a:t>
            </a:r>
            <a:r>
              <a:rPr b="0">
                <a:solidFill>
                  <a:srgbClr val="94A3B8"/>
                </a:solidFill>
              </a:rPr>
              <a:t> Instant, tamper-proof student credentials for internships and jobs.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46888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200" b="1">
                <a:solidFill>
                  <a:srgbClr val="818CF8"/>
                </a:solidFill>
              </a:defRPr>
            </a:pPr>
            <a:r>
              <a:t>FOR INDUSTRY &amp; HIGHER ECOSYSTEM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Zero-Friction Hiring Checks:</a:t>
            </a:r>
            <a:r>
              <a:rPr b="0">
                <a:solidFill>
                  <a:srgbClr val="94A3B8"/>
                </a:solidFill>
              </a:rPr>
              <a:t> Employers scan QR to verify authentic student status in 1 second.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Extensible Registry:</a:t>
            </a:r>
            <a:r>
              <a:rPr b="0">
                <a:solidFill>
                  <a:srgbClr val="94A3B8"/>
                </a:solidFill>
              </a:rPr>
              <a:t> Same blind engine easily extends to detect duplicate faculty members.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Universal Regulator Blueprint:</a:t>
            </a:r>
            <a:r>
              <a:rPr b="0">
                <a:solidFill>
                  <a:srgbClr val="94A3B8"/>
                </a:solidFill>
              </a:rPr>
              <a:t> Adoptable by UGC, NMC, and State Technical Education Boards.</a:t>
            </a:r>
          </a:p>
          <a:p>
            <a:pPr>
              <a:spcBef>
                <a:spcPts val="300"/>
              </a:spcBef>
              <a:defRPr sz="950" b="1">
                <a:solidFill>
                  <a:srgbClr val="F8FAFC"/>
                </a:solidFill>
              </a:defRPr>
            </a:pPr>
            <a:r>
              <a:t>✔ Sovereign Tech Sovereignty:</a:t>
            </a:r>
            <a:r>
              <a:rPr b="0">
                <a:solidFill>
                  <a:srgbClr val="94A3B8"/>
                </a:solidFill>
              </a:rPr>
              <a:t> Built entirely on open-source, non-proprietary cryptographic standards.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SMART INDIA HACKATHON 2026 · PS SIH26263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Research, Prior Art &amp; Regulatory Citations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29000" cy="502920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LEGAL &amp; JUDICIAL CITATIONS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</a:defRPr>
            </a:pPr>
            <a:r>
              <a:t>• Supreme Court of India (20 Jul 2026):</a:t>
            </a:r>
            <a:br/>
            <a:r>
              <a:rPr b="0">
                <a:solidFill>
                  <a:srgbClr val="94A3B8"/>
                </a:solidFill>
              </a:rPr>
              <a:t>Orders pan-India implementation of Odisha HC ruling on APAAR IDs; mandates non-discriminatory opt-out options in consent forms without denying educational access.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</a:defRPr>
            </a:pPr>
            <a:r>
              <a:t>• Digital Personal Data Protection (DPDP) Act 2023:</a:t>
            </a:r>
            <a:br/>
            <a:r>
              <a:rPr b="0">
                <a:solidFill>
                  <a:srgbClr val="94A3B8"/>
                </a:solidFill>
              </a:rPr>
              <a:t>Section 8 compliance obligations for Data Fiduciaries; statutory penalty schedule prescribing up to ₹250 Cr for failure to implement security safeguards.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</a:defRPr>
            </a:pPr>
            <a:r>
              <a:t>• AICTE Approval Process Handbook (APH 2025-26):</a:t>
            </a:r>
            <a:br/>
            <a:r>
              <a:rPr b="0">
                <a:solidFill>
                  <a:srgbClr val="94A3B8"/>
                </a:solidFill>
              </a:rPr>
              <a:t>Sanctioned intake regulations, 30% student admission viability benchmark, and Extension of Approval (EoA) audit norms.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3429000" cy="502920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50" b="1">
                <a:solidFill>
                  <a:srgbClr val="34D399"/>
                </a:solidFill>
              </a:defRPr>
            </a:pPr>
            <a:r>
              <a:t>CRYPTOGRAPHY &amp; TECHNICAL STANDARDS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</a:defRPr>
            </a:pPr>
            <a:r>
              <a:t>• W3C Verifiable Credentials Data Model v2.0:</a:t>
            </a:r>
            <a:br/>
            <a:r>
              <a:rPr b="0">
                <a:solidFill>
                  <a:srgbClr val="94A3B8"/>
                </a:solidFill>
              </a:rPr>
              <a:t>Decentralized digital identity standard enabling tamper-evident, cryptographically verifiable claims without central database queries.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</a:defRPr>
            </a:pPr>
            <a:r>
              <a:t>• RFC 8032 - Edwards-Curve Digital Signatures:</a:t>
            </a:r>
            <a:br/>
            <a:r>
              <a:rPr b="0">
                <a:solidFill>
                  <a:srgbClr val="94A3B8"/>
                </a:solidFill>
              </a:rPr>
              <a:t>Ed25519 high-speed cryptographic signature scheme ensuring integrity of offline verification credentials.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</a:defRPr>
            </a:pPr>
            <a:r>
              <a:t>• OpenMined Private Set Intersection (PSI):</a:t>
            </a:r>
            <a:br/>
            <a:r>
              <a:rPr b="0">
                <a:solidFill>
                  <a:srgbClr val="94A3B8"/>
                </a:solidFill>
              </a:rPr>
              <a:t>Cryptographic protocols enabling two parties to find shared identifiers without disclosing unmatched elements to either party.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429000" cy="5029200"/>
          </a:xfrm>
          <a:prstGeom prst="roundRect">
            <a:avLst/>
          </a:prstGeom>
          <a:solidFill>
            <a:srgbClr val="1A23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t>PROJECT REPOSITORY &amp; DEMO PROOFS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</a:defRPr>
            </a:pPr>
            <a:r>
              <a:t>• Open-Source Codebase:</a:t>
            </a:r>
            <a:br/>
            <a:r>
              <a:rPr b="0">
                <a:solidFill>
                  <a:srgbClr val="94A3B8"/>
                </a:solidFill>
              </a:rPr>
              <a:t>Hosted at https://github.com/heaven-swastik/sakshi.git with complete commit history and build packs.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</a:defRPr>
            </a:pPr>
            <a:r>
              <a:t>• Automated Test Suite:</a:t>
            </a:r>
            <a:br/>
            <a:r>
              <a:rPr b="0">
                <a:solidFill>
                  <a:srgbClr val="94A3B8"/>
                </a:solidFill>
              </a:rPr>
              <a:t>9/9 passing pytest unit tests verifying mathematical scoring rules, zero-PII leak safety, and token collision engines.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</a:defRPr>
            </a:pPr>
            <a:r>
              <a:t>• Full-HD 1080p Video Demonstration:</a:t>
            </a:r>
            <a:br/>
            <a:r>
              <a:rPr b="0">
                <a:solidFill>
                  <a:srgbClr val="94A3B8"/>
                </a:solidFill>
              </a:rPr>
              <a:t>Includes 3m 15s comprehensive regulatory walkthrough and 60-second executive trailer (demo/sakshi-demo.mp4).</a:t>
            </a:r>
          </a:p>
          <a:p>
            <a:pPr>
              <a:spcBef>
                <a:spcPts val="800"/>
              </a:spcBef>
              <a:defRPr sz="950" b="1">
                <a:solidFill>
                  <a:srgbClr val="F8FAFC"/>
                </a:solidFill>
              </a:defRPr>
            </a:pPr>
            <a:r>
              <a:t>• Seeded Ground Truth:</a:t>
            </a:r>
            <a:br/>
            <a:r>
              <a:rPr b="0">
                <a:solidFill>
                  <a:srgbClr val="94A3B8"/>
                </a:solidFill>
              </a:rPr>
              <a:t>Pre-loaded with 15 verified institutions, 3,333 seats, and 42 chained audit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